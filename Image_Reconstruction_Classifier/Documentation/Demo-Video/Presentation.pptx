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033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71F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
Cloud Computing
by Prof: Damir Dobric / Andreas Pech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292608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figs/fraun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02336"/>
            <a:ext cx="1554480" cy="5680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Reconstruction as a Cloud Service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 + KNN Reconstruction, Orchestrated by an AI Agent over Azure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Eyad Elsheita   ·   Khaled Kandil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Project — Frankfurt University of Applied Sciences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Storage Doesn't Scale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182770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459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 storage grows expensive at scale — Fashion-MNIST is our benchmark for testing reconstruction quality.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245023"/>
            <a:ext cx="294803" cy="294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30632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compressed images into Sparse Distributed Representations (SDRs) via an HTM spatial pooler — but only as a local ML experiment.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66234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44805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job: turn that pipeline into an engineered, cloud-hosted, AI-operated service — and disclose exactly how AI helped build it.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869680" y="2148840"/>
            <a:ext cx="2011680" cy="201168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717" y="2671877"/>
            <a:ext cx="965606" cy="96560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2104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train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test images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Three Moves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943100" y="2057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610" y="22549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Tool-ized Pipeline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370332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independent MCP tools replace one monolithic handler — each pipeline stage is testable on its own.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0" y="169164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92140" y="2057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50" y="225491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Storage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709160" y="370332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trained classifier models, and reconstruction metrics all move from local disk into Azure Blob and Table Storage.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38160" y="169164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441180" y="2057400"/>
            <a:ext cx="822960" cy="82296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690" y="225491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as Driver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58200" y="370332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— not a human — calls these tools in production, reaching our Azure deployment through one configurable endpoint.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Deployed on Azure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5216" y="1362456"/>
            <a:ext cx="4337456" cy="5230368"/>
          </a:xfrm>
          <a:prstGeom prst="roundRect">
            <a:avLst>
              <a:gd name="adj" fmla="val 84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76200" dist="38100" dir="5400000" algn="bl" rotWithShape="0">
              <a:srgbClr val="9AA7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work/figs/main_architectu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4227728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25008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709" y="1949501"/>
            <a:ext cx="261518" cy="261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83376" y="1773936"/>
            <a:ext cx="56596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App Service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983376" y="2084832"/>
            <a:ext cx="5659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container running the MCP server, pulled via Managed Identity.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325008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709" y="3183941"/>
            <a:ext cx="261518" cy="261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83376" y="3008376"/>
            <a:ext cx="56596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 Storage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983376" y="3319272"/>
            <a:ext cx="5659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images and persisted classifier models.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325008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709" y="4418381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83376" y="4242816"/>
            <a:ext cx="56596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Storage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983376" y="4553712"/>
            <a:ext cx="56596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Per-reconstruction similarity metrics, written live.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One Reconstruction Request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5216" y="1362456"/>
            <a:ext cx="4158234" cy="5230368"/>
          </a:xfrm>
          <a:prstGeom prst="roundRect">
            <a:avLst>
              <a:gd name="adj" fmla="val 88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76200" dist="38100" dir="5400000" algn="bl" rotWithShape="0">
              <a:srgbClr val="9AA7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work/figs/inner_tool_connect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4048506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45786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487" y="1949501"/>
            <a:ext cx="261518" cy="261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04154" y="1773936"/>
            <a:ext cx="58389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tools, 1 boundary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804154" y="2084832"/>
            <a:ext cx="58389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an independently callable, independently testable MCP tool.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145786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487" y="3183941"/>
            <a:ext cx="261518" cy="261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04154" y="3008376"/>
            <a:ext cx="58389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Confidence-weighted fusion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804154" y="3319272"/>
            <a:ext cx="58389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Cosine-similarity weighting + Gaussian local voting + median filtering.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145786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487" y="4418381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04154" y="4242816"/>
            <a:ext cx="58389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land in Table Storage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804154" y="4553712"/>
            <a:ext cx="58389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similarity scores are written to Azure Table Storage — live.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Our Own Gap — Then Closing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74920" cy="3657600"/>
          </a:xfrm>
          <a:prstGeom prst="roundRect">
            <a:avLst>
              <a:gd name="adj" fmla="val 1500"/>
            </a:avLst>
          </a:prstGeom>
          <a:solidFill>
            <a:srgbClr val="FD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" y="1920240"/>
            <a:ext cx="594360" cy="594360"/>
          </a:xfrm>
          <a:prstGeom prst="ellipse">
            <a:avLst/>
          </a:prstGeom>
          <a:solidFill>
            <a:srgbClr val="E08E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20628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965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7889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on one machine — no scaling, no concurrent requests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5661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 local setup: .NET SDK, libraries, env vars by hand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43434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Pipeline knowledge lives in code — no natural-language interface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074920" cy="3657600"/>
          </a:xfrm>
          <a:prstGeom prst="roundRect">
            <a:avLst>
              <a:gd name="adj" fmla="val 1500"/>
            </a:avLst>
          </a:prstGeom>
          <a:solidFill>
            <a:srgbClr val="EAF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1C96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206288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65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6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37960" y="27889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Containerized on Azure App Service — scales horizontally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35661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local dependencies — agent connects to one HTTPS endpoint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37960" y="43434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agent drives the full pipeline in natural language via MCP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63499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5532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unblocks horizontal scaling — validating it under real multi-replica load is still ahead of us.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AI — Disclosed Separately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749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9AA7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2057400"/>
            <a:ext cx="731520" cy="73152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05" y="22329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Run-time Agent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51560" y="297180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delivered product itself — decides which MCP tool to call from a natural-language request.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0749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9AA7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37960" y="20574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525" y="22329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Assistants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583680" y="297180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during development to help write and scaffold code — disclosed per-contribution, separate from the run-time agent.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68680" y="5029200"/>
            <a:ext cx="594360" cy="59436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517184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48920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significant AI contribution — prompt, raw output, manual change — is logged in PROMPTS.md, not reconstructed from memory into this deck or the paper.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</a:rPr>
              <a:t>Key Design Decisions &amp; Trade-offs</a:t>
            </a:r>
          </a:p>
        </p:txBody>
      </p:sp>
      <p:sp>
        <p:nvSpPr>
          <p:cNvPr id="3" name="ColHdr1"/>
          <p:cNvSpPr/>
          <p:nvPr/>
        </p:nvSpPr>
        <p:spPr>
          <a:xfrm>
            <a:off x="640080" y="1371600"/>
            <a:ext cx="2560320" cy="365760"/>
          </a:xfrm>
          <a:prstGeom prst="rect">
            <a:avLst/>
          </a:prstGeom>
          <a:solidFill>
            <a:srgbClr val="0A3D62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Decision</a:t>
            </a:r>
          </a:p>
        </p:txBody>
      </p:sp>
      <p:sp>
        <p:nvSpPr>
          <p:cNvPr id="4" name="ColHdr2"/>
          <p:cNvSpPr/>
          <p:nvPr/>
        </p:nvSpPr>
        <p:spPr>
          <a:xfrm>
            <a:off x="3291840" y="1371600"/>
            <a:ext cx="2286000" cy="365760"/>
          </a:xfrm>
          <a:prstGeom prst="rect">
            <a:avLst/>
          </a:prstGeom>
          <a:solidFill>
            <a:srgbClr val="0A3D62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We chose</a:t>
            </a:r>
          </a:p>
        </p:txBody>
      </p:sp>
      <p:sp>
        <p:nvSpPr>
          <p:cNvPr id="5" name="ColHdr3"/>
          <p:cNvSpPr/>
          <p:nvPr/>
        </p:nvSpPr>
        <p:spPr>
          <a:xfrm>
            <a:off x="5669280" y="1371600"/>
            <a:ext cx="2286000" cy="365760"/>
          </a:xfrm>
          <a:prstGeom prst="rect">
            <a:avLst/>
          </a:prstGeom>
          <a:solidFill>
            <a:srgbClr val="0A3D62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Instead of</a:t>
            </a:r>
          </a:p>
        </p:txBody>
      </p:sp>
      <p:sp>
        <p:nvSpPr>
          <p:cNvPr id="6" name="ColHdr4"/>
          <p:cNvSpPr/>
          <p:nvPr/>
        </p:nvSpPr>
        <p:spPr>
          <a:xfrm>
            <a:off x="8046720" y="1371600"/>
            <a:ext cx="3505440" cy="365760"/>
          </a:xfrm>
          <a:prstGeom prst="rect">
            <a:avLst/>
          </a:prstGeom>
          <a:solidFill>
            <a:srgbClr val="0A3D62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Why</a:t>
            </a:r>
          </a:p>
        </p:txBody>
      </p:sp>
      <p:sp>
        <p:nvSpPr>
          <p:cNvPr id="7" name="R1C1"/>
          <p:cNvSpPr/>
          <p:nvPr/>
        </p:nvSpPr>
        <p:spPr>
          <a:xfrm>
            <a:off x="640080" y="1737360"/>
            <a:ext cx="2560320" cy="822960"/>
          </a:xfrm>
          <a:prstGeom prst="rect">
            <a:avLst/>
          </a:prstGeom>
          <a:solidFill>
            <a:srgbClr val="EAF6F1"/>
          </a:solidFill>
          <a:ln w="9525">
            <a:solidFill>
              <a:srgbClr val="C8E6D4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</a:rPr>
              <a:t>Storage structure</a:t>
            </a:r>
          </a:p>
        </p:txBody>
      </p:sp>
      <p:sp>
        <p:nvSpPr>
          <p:cNvPr id="8" name="R1C2"/>
          <p:cNvSpPr/>
          <p:nvPr/>
        </p:nvSpPr>
        <p:spPr>
          <a:xfrm>
            <a:off x="3291840" y="1737360"/>
            <a:ext cx="2286000" cy="822960"/>
          </a:xfrm>
          <a:prstGeom prst="rect">
            <a:avLst/>
          </a:prstGeom>
          <a:solidFill>
            <a:srgbClr val="EAF6F1"/>
          </a:solidFill>
          <a:ln w="9525">
            <a:solidFill>
              <a:srgbClr val="C8E6D4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6B3A"/>
                </a:solidFill>
                <a:latin typeface="Calibri" pitchFamily="34" charset="0"/>
              </a:rPr>
              <a:t>2 containers (train / test)</a:t>
            </a:r>
          </a:p>
        </p:txBody>
      </p:sp>
      <p:sp>
        <p:nvSpPr>
          <p:cNvPr id="9" name="R1C3"/>
          <p:cNvSpPr/>
          <p:nvPr/>
        </p:nvSpPr>
        <p:spPr>
          <a:xfrm>
            <a:off x="5669280" y="1737360"/>
            <a:ext cx="2286000" cy="822960"/>
          </a:xfrm>
          <a:prstGeom prst="rect">
            <a:avLst/>
          </a:prstGeom>
          <a:solidFill>
            <a:srgbClr val="EAF6F1"/>
          </a:solidFill>
          <a:ln w="9525">
            <a:solidFill>
              <a:srgbClr val="C8E6D4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</a:rPr>
              <a:t>4+ containers</a:t>
            </a:r>
          </a:p>
        </p:txBody>
      </p:sp>
      <p:sp>
        <p:nvSpPr>
          <p:cNvPr id="10" name="R1C4"/>
          <p:cNvSpPr/>
          <p:nvPr/>
        </p:nvSpPr>
        <p:spPr>
          <a:xfrm>
            <a:off x="8046720" y="1737360"/>
            <a:ext cx="3505440" cy="822960"/>
          </a:xfrm>
          <a:prstGeom prst="rect">
            <a:avLst/>
          </a:prstGeom>
          <a:solidFill>
            <a:srgbClr val="EAF6F1"/>
          </a:solidFill>
          <a:ln w="9525">
            <a:solidFill>
              <a:srgbClr val="C8E6D4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</a:rPr>
              <a:t>Same cost — naming convention replaces container separation</a:t>
            </a:r>
          </a:p>
        </p:txBody>
      </p:sp>
      <p:sp>
        <p:nvSpPr>
          <p:cNvPr id="11" name="R2C1"/>
          <p:cNvSpPr/>
          <p:nvPr/>
        </p:nvSpPr>
        <p:spPr>
          <a:xfrm>
            <a:off x="640080" y="2651760"/>
            <a:ext cx="2560320" cy="822960"/>
          </a:xfrm>
          <a:prstGeom prst="rect">
            <a:avLst/>
          </a:prstGeom>
          <a:solidFill>
            <a:srgbClr val="F0F5FF"/>
          </a:solidFill>
          <a:ln w="9525">
            <a:solidFill>
              <a:srgbClr val="C5D5EF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</a:rPr>
              <a:t>Database</a:t>
            </a:r>
          </a:p>
        </p:txBody>
      </p:sp>
      <p:sp>
        <p:nvSpPr>
          <p:cNvPr id="12" name="R2C2"/>
          <p:cNvSpPr/>
          <p:nvPr/>
        </p:nvSpPr>
        <p:spPr>
          <a:xfrm>
            <a:off x="3291840" y="2651760"/>
            <a:ext cx="2286000" cy="822960"/>
          </a:xfrm>
          <a:prstGeom prst="rect">
            <a:avLst/>
          </a:prstGeom>
          <a:solidFill>
            <a:srgbClr val="F0F5FF"/>
          </a:solidFill>
          <a:ln w="9525">
            <a:solidFill>
              <a:srgbClr val="C5D5EF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</a:rPr>
              <a:t>Azure Table Storage</a:t>
            </a:r>
          </a:p>
        </p:txBody>
      </p:sp>
      <p:sp>
        <p:nvSpPr>
          <p:cNvPr id="13" name="R2C3"/>
          <p:cNvSpPr/>
          <p:nvPr/>
        </p:nvSpPr>
        <p:spPr>
          <a:xfrm>
            <a:off x="5669280" y="2651760"/>
            <a:ext cx="2286000" cy="822960"/>
          </a:xfrm>
          <a:prstGeom prst="rect">
            <a:avLst/>
          </a:prstGeom>
          <a:solidFill>
            <a:srgbClr val="F0F5FF"/>
          </a:solidFill>
          <a:ln w="9525">
            <a:solidFill>
              <a:srgbClr val="C5D5EF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</a:rPr>
              <a:t>SQL Database</a:t>
            </a:r>
          </a:p>
        </p:txBody>
      </p:sp>
      <p:sp>
        <p:nvSpPr>
          <p:cNvPr id="14" name="R2C4"/>
          <p:cNvSpPr/>
          <p:nvPr/>
        </p:nvSpPr>
        <p:spPr>
          <a:xfrm>
            <a:off x="8046720" y="2651760"/>
            <a:ext cx="3505440" cy="822960"/>
          </a:xfrm>
          <a:prstGeom prst="rect">
            <a:avLst/>
          </a:prstGeom>
          <a:solidFill>
            <a:srgbClr val="F0F5FF"/>
          </a:solidFill>
          <a:ln w="9525">
            <a:solidFill>
              <a:srgbClr val="C5D5EF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</a:rPr>
              <a:t>Results are flat records — no joins needed, same storage account</a:t>
            </a:r>
          </a:p>
        </p:txBody>
      </p:sp>
      <p:sp>
        <p:nvSpPr>
          <p:cNvPr id="15" name="R3C1"/>
          <p:cNvSpPr/>
          <p:nvPr/>
        </p:nvSpPr>
        <p:spPr>
          <a:xfrm>
            <a:off x="640080" y="3566160"/>
            <a:ext cx="2560320" cy="822960"/>
          </a:xfrm>
          <a:prstGeom prst="rect">
            <a:avLst/>
          </a:prstGeom>
          <a:solidFill>
            <a:srgbClr val="FDF3EC"/>
          </a:solidFill>
          <a:ln w="9525">
            <a:solidFill>
              <a:srgbClr val="F0D0B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</a:rPr>
              <a:t>MCP transport</a:t>
            </a:r>
          </a:p>
        </p:txBody>
      </p:sp>
      <p:sp>
        <p:nvSpPr>
          <p:cNvPr id="16" name="R3C2"/>
          <p:cNvSpPr/>
          <p:nvPr/>
        </p:nvSpPr>
        <p:spPr>
          <a:xfrm>
            <a:off x="3291840" y="3566160"/>
            <a:ext cx="2286000" cy="822960"/>
          </a:xfrm>
          <a:prstGeom prst="rect">
            <a:avLst/>
          </a:prstGeom>
          <a:solidFill>
            <a:srgbClr val="FDF3EC"/>
          </a:solidFill>
          <a:ln w="9525">
            <a:solidFill>
              <a:srgbClr val="F0D0B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4B1E"/>
                </a:solidFill>
                <a:latin typeface="Calibri" pitchFamily="34" charset="0"/>
              </a:rPr>
              <a:t>HTTP transport</a:t>
            </a:r>
          </a:p>
        </p:txBody>
      </p:sp>
      <p:sp>
        <p:nvSpPr>
          <p:cNvPr id="17" name="R3C3"/>
          <p:cNvSpPr/>
          <p:nvPr/>
        </p:nvSpPr>
        <p:spPr>
          <a:xfrm>
            <a:off x="5669280" y="3566160"/>
            <a:ext cx="2286000" cy="822960"/>
          </a:xfrm>
          <a:prstGeom prst="rect">
            <a:avLst/>
          </a:prstGeom>
          <a:solidFill>
            <a:srgbClr val="FDF3EC"/>
          </a:solidFill>
          <a:ln w="9525">
            <a:solidFill>
              <a:srgbClr val="F0D0B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</a:rPr>
              <a:t>STDIO transport</a:t>
            </a:r>
          </a:p>
        </p:txBody>
      </p:sp>
      <p:sp>
        <p:nvSpPr>
          <p:cNvPr id="18" name="R3C4"/>
          <p:cNvSpPr/>
          <p:nvPr/>
        </p:nvSpPr>
        <p:spPr>
          <a:xfrm>
            <a:off x="8046720" y="3566160"/>
            <a:ext cx="3505440" cy="822960"/>
          </a:xfrm>
          <a:prstGeom prst="rect">
            <a:avLst/>
          </a:prstGeom>
          <a:solidFill>
            <a:srgbClr val="FDF3EC"/>
          </a:solidFill>
          <a:ln w="9525">
            <a:solidFill>
              <a:srgbClr val="F0D0B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</a:rPr>
              <a:t>STDIO only works locally — HTTP works across Azure App Service instances</a:t>
            </a:r>
          </a:p>
        </p:txBody>
      </p:sp>
      <p:sp>
        <p:nvSpPr>
          <p:cNvPr id="19" name="R4C1"/>
          <p:cNvSpPr/>
          <p:nvPr/>
        </p:nvSpPr>
        <p:spPr>
          <a:xfrm>
            <a:off x="640080" y="4480560"/>
            <a:ext cx="2560320" cy="822960"/>
          </a:xfrm>
          <a:prstGeom prst="rect">
            <a:avLst/>
          </a:prstGeom>
          <a:solidFill>
            <a:srgbClr val="F3EEFA"/>
          </a:solidFill>
          <a:ln w="9525">
            <a:solidFill>
              <a:srgbClr val="D8BA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</a:rPr>
              <a:t>Logging output</a:t>
            </a:r>
          </a:p>
        </p:txBody>
      </p:sp>
      <p:sp>
        <p:nvSpPr>
          <p:cNvPr id="20" name="R4C2"/>
          <p:cNvSpPr/>
          <p:nvPr/>
        </p:nvSpPr>
        <p:spPr>
          <a:xfrm>
            <a:off x="3291840" y="4480560"/>
            <a:ext cx="2286000" cy="822960"/>
          </a:xfrm>
          <a:prstGeom prst="rect">
            <a:avLst/>
          </a:prstGeom>
          <a:solidFill>
            <a:srgbClr val="F3EEFA"/>
          </a:solidFill>
          <a:ln w="9525">
            <a:solidFill>
              <a:srgbClr val="D8BA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3AB7"/>
                </a:solidFill>
                <a:latin typeface="Calibri" pitchFamily="34" charset="0"/>
              </a:rPr>
              <a:t>CloudLogger → stderr</a:t>
            </a:r>
          </a:p>
        </p:txBody>
      </p:sp>
      <p:sp>
        <p:nvSpPr>
          <p:cNvPr id="21" name="R4C3"/>
          <p:cNvSpPr/>
          <p:nvPr/>
        </p:nvSpPr>
        <p:spPr>
          <a:xfrm>
            <a:off x="5669280" y="4480560"/>
            <a:ext cx="2286000" cy="822960"/>
          </a:xfrm>
          <a:prstGeom prst="rect">
            <a:avLst/>
          </a:prstGeom>
          <a:solidFill>
            <a:srgbClr val="F3EEFA"/>
          </a:solidFill>
          <a:ln w="9525">
            <a:solidFill>
              <a:srgbClr val="D8BA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</a:rPr>
              <a:t>Console.WriteLine → stdout</a:t>
            </a:r>
          </a:p>
        </p:txBody>
      </p:sp>
      <p:sp>
        <p:nvSpPr>
          <p:cNvPr id="22" name="R4C4"/>
          <p:cNvSpPr/>
          <p:nvPr/>
        </p:nvSpPr>
        <p:spPr>
          <a:xfrm>
            <a:off x="8046720" y="4480560"/>
            <a:ext cx="3505440" cy="822960"/>
          </a:xfrm>
          <a:prstGeom prst="rect">
            <a:avLst/>
          </a:prstGeom>
          <a:solidFill>
            <a:srgbClr val="F3EEFA"/>
          </a:solidFill>
          <a:ln w="9525">
            <a:solidFill>
              <a:srgbClr val="D8BA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</a:rPr>
              <a:t>MCP uses stdout for tool messages — mixing logs corrupts the stream</a:t>
            </a:r>
          </a:p>
        </p:txBody>
      </p:sp>
      <p:sp>
        <p:nvSpPr>
          <p:cNvPr id="23" name="PageNum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&amp; What We Learned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ML experiment — turned into a containerized, Azure-deployed service, operated by an AI agent through the Model Context Protocol.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071F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65960" y="3108960"/>
            <a:ext cx="777240" cy="77724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498" y="3295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114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47548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service with 7 MCP tools, Azure Blob + Table Storage, and an AI agent as the operator.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78892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071F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0" y="3108960"/>
            <a:ext cx="777240" cy="77724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538" y="329549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4114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decided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47548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had a reason — transport, storage, logging, containers.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78892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071F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464040" y="3108960"/>
            <a:ext cx="777240" cy="77724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578" y="32954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4114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47548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development — but human review catches what compiles and still breaks.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22960" y="27432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5720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Eyad Elsheita — eyad.elsheita@stud.fra-uas.de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Kandil — khaled.kandil@stud.fra-uas.de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704</Words>
  <Application>Microsoft Office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Eyad Salah Abdelkader Ashmawi Elsheita</cp:lastModifiedBy>
  <cp:revision>4</cp:revision>
  <dcterms:created xsi:type="dcterms:W3CDTF">2026-08-21T11:12:44Z</dcterms:created>
  <dcterms:modified xsi:type="dcterms:W3CDTF">2026-08-21T13:50:32Z</dcterms:modified>
</cp:coreProperties>
</file>